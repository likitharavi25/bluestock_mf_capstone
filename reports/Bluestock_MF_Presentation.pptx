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9DD983-08D6-441B-8911-7C7FF015C03E}">
  <a:tblStyle styleId="{639DD983-08D6-441B-8911-7C7FF015C0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5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e98f4cc62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e98f4cc62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e98f4cc62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e98f4cc62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e98f4cc62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e98f4cc62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e98f4cc62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e98f4cc62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e98f4cc62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e98f4cc62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e98f4cc62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e98f4cc62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e98f4cc62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e98f4cc62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e98f4cc62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e98f4cc62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e98f4cc62_0_4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e98f4cc62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09734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BLUESTOCK </a:t>
            </a:r>
            <a:r>
              <a:rPr b="1" lang="en">
                <a:solidFill>
                  <a:srgbClr val="FF9900"/>
                </a:solidFill>
              </a:rPr>
              <a:t>FINTECH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3779204" y="3467262"/>
            <a:ext cx="5012100" cy="12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alibri"/>
                <a:ea typeface="Calibri"/>
                <a:cs typeface="Calibri"/>
                <a:sym typeface="Calibri"/>
              </a:rPr>
              <a:t>Submitted By: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Likitha R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B.Tech - Computer Science and Engineering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Data Analyst Intern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May 2026 - July 2026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7" name="Google Shape;87;p13"/>
          <p:cNvSpPr txBox="1"/>
          <p:nvPr/>
        </p:nvSpPr>
        <p:spPr>
          <a:xfrm>
            <a:off x="625487" y="1843626"/>
            <a:ext cx="733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Capstone Project</a:t>
            </a:r>
            <a:endParaRPr sz="20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39924" y="2392656"/>
            <a:ext cx="832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Mutual Fund Analytics Platform</a:t>
            </a:r>
            <a:endParaRPr sz="24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Calibri"/>
                <a:ea typeface="Calibri"/>
                <a:cs typeface="Calibri"/>
                <a:sym typeface="Calibri"/>
              </a:rPr>
              <a:t>Problem &amp; Objective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4"/>
          <p:cNvGrpSpPr/>
          <p:nvPr/>
        </p:nvGrpSpPr>
        <p:grpSpPr>
          <a:xfrm>
            <a:off x="431928" y="1304875"/>
            <a:ext cx="3068744" cy="3416400"/>
            <a:chOff x="431925" y="1304875"/>
            <a:chExt cx="2628925" cy="3416400"/>
          </a:xfrm>
        </p:grpSpPr>
        <p:sp>
          <p:nvSpPr>
            <p:cNvPr id="95" name="Google Shape;95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4"/>
          <p:cNvSpPr txBox="1"/>
          <p:nvPr>
            <p:ph idx="4294967295" type="body"/>
          </p:nvPr>
        </p:nvSpPr>
        <p:spPr>
          <a:xfrm>
            <a:off x="508325" y="1850300"/>
            <a:ext cx="29202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Fragmentation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Performance Comparison Gap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 Benchmark Tracking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Investor Behaviour Blind Spot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Slow Reporting</a:t>
            </a:r>
            <a:endParaRPr sz="1600"/>
          </a:p>
        </p:txBody>
      </p:sp>
      <p:grpSp>
        <p:nvGrpSpPr>
          <p:cNvPr id="98" name="Google Shape;98;p14"/>
          <p:cNvGrpSpPr/>
          <p:nvPr/>
        </p:nvGrpSpPr>
        <p:grpSpPr>
          <a:xfrm>
            <a:off x="3645248" y="1304875"/>
            <a:ext cx="5199977" cy="3416400"/>
            <a:chOff x="6212550" y="1304875"/>
            <a:chExt cx="2632500" cy="3416400"/>
          </a:xfrm>
        </p:grpSpPr>
        <p:sp>
          <p:nvSpPr>
            <p:cNvPr id="99" name="Google Shape;99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840539" y="131932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Objective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14"/>
          <p:cNvSpPr txBox="1"/>
          <p:nvPr>
            <p:ph idx="4294967295" type="body"/>
          </p:nvPr>
        </p:nvSpPr>
        <p:spPr>
          <a:xfrm>
            <a:off x="3717350" y="1792508"/>
            <a:ext cx="50478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Build an ETL pipeline from raw AMFI data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Design a normalised SQL schema for MF data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Perform comprehensive EDA on NAV &amp; AUM data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Compute performance &amp; risk metrics per scheme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Build an interactive BI dashboard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Analyse investor transaction patterns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Compare fund returns vs benchmark indices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Document and present the entire project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3" name="Google Shape;103;p14"/>
          <p:cNvSpPr txBox="1"/>
          <p:nvPr/>
        </p:nvSpPr>
        <p:spPr>
          <a:xfrm>
            <a:off x="480143" y="1319173"/>
            <a:ext cx="227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Problem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300232" y="2952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1604111" y="1206356"/>
            <a:ext cx="2999700" cy="51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01_fund_master.csv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1607324" y="1737461"/>
            <a:ext cx="2999700" cy="51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02_nav_history.csv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599061" y="2268566"/>
            <a:ext cx="2999700" cy="51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03_aum_by_fund_house.csv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599049" y="2799674"/>
            <a:ext cx="2999700" cy="51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04_monthly_sip_inflowscsv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607324" y="3339282"/>
            <a:ext cx="2999700" cy="51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05_category_inflows.csv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>
            <a:off x="4384952" y="1462039"/>
            <a:ext cx="2999700" cy="51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06_industry_folio_count.csv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 flipH="1">
            <a:off x="4384952" y="2003029"/>
            <a:ext cx="2999700" cy="51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07_scheme_performance.csv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 flipH="1">
            <a:off x="4384952" y="2538377"/>
            <a:ext cx="2999700" cy="51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08_investor_transaction.csv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 flipH="1">
            <a:off x="4384952" y="3073727"/>
            <a:ext cx="2999700" cy="51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09_portfolio_holdings.csv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 flipH="1">
            <a:off x="4384952" y="3609089"/>
            <a:ext cx="2999700" cy="51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10_benchmark_indices.csv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2254009" y="4277245"/>
            <a:ext cx="527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 Datasets | 46,000+ Records | 4 Years Historical Data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311700" y="410000"/>
            <a:ext cx="37479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6" title="power_bi_mod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35052"/>
            <a:ext cx="9143998" cy="129591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16"/>
          <p:cNvGraphicFramePr/>
          <p:nvPr/>
        </p:nvGraphicFramePr>
        <p:xfrm>
          <a:off x="311750" y="151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{639DD983-08D6-441B-8911-7C7FF015C03E}</a:tableStyleId>
              </a:tblPr>
              <a:tblGrid>
                <a:gridCol w="1217225"/>
                <a:gridCol w="1217225"/>
                <a:gridCol w="1217225"/>
                <a:gridCol w="1217225"/>
                <a:gridCol w="1217225"/>
                <a:gridCol w="1217225"/>
                <a:gridCol w="1217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CSV files</a:t>
                      </a:r>
                      <a:endParaRPr sz="16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300" marB="274300" marR="91425" marL="91425">
                    <a:lnL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Cleaning &amp; Validation</a:t>
                      </a:r>
                      <a:endParaRPr sz="16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300" marB="274300" marR="91425" marL="91425">
                    <a:lnL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 Engineering</a:t>
                      </a:r>
                      <a:endParaRPr sz="16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300" marB="274300" marR="91425" marL="91425">
                    <a:lnL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en" sz="16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QLite Database</a:t>
                      </a:r>
                      <a:endParaRPr sz="16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300" marB="274300" marR="91425" marL="91425">
                    <a:lnL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Analytics Engine</a:t>
                      </a:r>
                      <a:endParaRPr sz="16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300" marB="274300" marR="91425" marL="91425">
                    <a:lnL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Power BI Dashboards</a:t>
                      </a:r>
                      <a:endParaRPr sz="16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300" marB="274300" marR="91425" marL="91425">
                    <a:lnL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Insights</a:t>
                      </a:r>
                      <a:endParaRPr sz="16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300" marB="274300" marR="91425" marL="91425">
                    <a:lnL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6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cxnSp>
        <p:nvCxnSpPr>
          <p:cNvPr id="127" name="Google Shape;127;p16"/>
          <p:cNvCxnSpPr/>
          <p:nvPr/>
        </p:nvCxnSpPr>
        <p:spPr>
          <a:xfrm>
            <a:off x="1432957" y="2111450"/>
            <a:ext cx="21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6"/>
          <p:cNvCxnSpPr/>
          <p:nvPr/>
        </p:nvCxnSpPr>
        <p:spPr>
          <a:xfrm>
            <a:off x="2659609" y="2155375"/>
            <a:ext cx="21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6"/>
          <p:cNvCxnSpPr/>
          <p:nvPr/>
        </p:nvCxnSpPr>
        <p:spPr>
          <a:xfrm>
            <a:off x="7528518" y="2155375"/>
            <a:ext cx="21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6"/>
          <p:cNvCxnSpPr/>
          <p:nvPr/>
        </p:nvCxnSpPr>
        <p:spPr>
          <a:xfrm>
            <a:off x="6296861" y="2155375"/>
            <a:ext cx="21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6"/>
          <p:cNvCxnSpPr/>
          <p:nvPr/>
        </p:nvCxnSpPr>
        <p:spPr>
          <a:xfrm>
            <a:off x="5079541" y="2155375"/>
            <a:ext cx="21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6"/>
          <p:cNvCxnSpPr/>
          <p:nvPr/>
        </p:nvCxnSpPr>
        <p:spPr>
          <a:xfrm>
            <a:off x="3857441" y="2155375"/>
            <a:ext cx="21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6"/>
          <p:cNvSpPr txBox="1"/>
          <p:nvPr/>
        </p:nvSpPr>
        <p:spPr>
          <a:xfrm>
            <a:off x="3702500" y="4279998"/>
            <a:ext cx="190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BI Model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7" title="aum_trend_chart.png"/>
          <p:cNvPicPr preferRelativeResize="0"/>
          <p:nvPr/>
        </p:nvPicPr>
        <p:blipFill rotWithShape="1">
          <a:blip r:embed="rId3">
            <a:alphaModFix/>
          </a:blip>
          <a:srcRect b="0" l="540" r="-540" t="0"/>
          <a:stretch/>
        </p:blipFill>
        <p:spPr>
          <a:xfrm>
            <a:off x="152400" y="1170200"/>
            <a:ext cx="265747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title="category_inflow_heat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2275" y="1170200"/>
            <a:ext cx="6029324" cy="324909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33259" y="4449675"/>
            <a:ext cx="4737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Industry AUM increased steadily from 2022–2025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Liquid funds attracted the highest inflows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4612277" y="4449675"/>
            <a:ext cx="4430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Equity categories remained investor favorites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growth in mutual fund participation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 title="nav_correlat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4372808" cy="38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title="nav_analysi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7608" y="1025882"/>
            <a:ext cx="4313993" cy="36035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4020005" y="4366539"/>
            <a:ext cx="705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correlations observed among leading schemes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 values displayed long-term growth trends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movements significantly influenced fund performance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Calibri"/>
                <a:ea typeface="Calibri"/>
                <a:cs typeface="Calibri"/>
                <a:sym typeface="Calibri"/>
              </a:rPr>
              <a:t>Fund Performance Analytics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9" title="fund_performance_scorec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199" cy="3067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224425" y="4438720"/>
            <a:ext cx="834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metrics were used to evaluate growth, risk-adjusted returns, and benchmark performance.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0" title="rolling_sharpe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945"/>
            <a:ext cx="4065175" cy="30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 title="sector_concentration_cha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7575" y="758536"/>
            <a:ext cx="4774025" cy="286441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1535551" y="3579655"/>
            <a:ext cx="230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Rolling Sharpe Ratio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549764" y="3571850"/>
            <a:ext cx="245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Sector Concentration (HHI) Chart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1045050" y="4308825"/>
            <a:ext cx="705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Risk-adjusted performance varied significantly across schemes and sectors.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Calibri"/>
                <a:ea typeface="Calibri"/>
                <a:cs typeface="Calibri"/>
                <a:sym typeface="Calibri"/>
              </a:rPr>
              <a:t>Dashboard Development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1" title="Industry Over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747" y="1415541"/>
            <a:ext cx="4364174" cy="24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1515148" y="4341664"/>
            <a:ext cx="705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 high-level view of industry growth and market participation.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1" title="Fund Performan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4321" y="1502132"/>
            <a:ext cx="4077278" cy="2271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1556425" y="3875900"/>
            <a:ext cx="212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Industry Overview 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6008925" y="3875900"/>
            <a:ext cx="3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 Performance 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2" title="Investor Analyti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49" y="1200223"/>
            <a:ext cx="4267201" cy="239985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Calibri"/>
                <a:ea typeface="Calibri"/>
                <a:cs typeface="Calibri"/>
                <a:sym typeface="Calibri"/>
              </a:rPr>
              <a:t>Dashboard Development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2" title="SIP &amp; Market Trend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3151" y="1170200"/>
            <a:ext cx="4108450" cy="227717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2"/>
          <p:cNvSpPr txBox="1"/>
          <p:nvPr/>
        </p:nvSpPr>
        <p:spPr>
          <a:xfrm>
            <a:off x="1562211" y="3644986"/>
            <a:ext cx="239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Analytics 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5784950" y="3587277"/>
            <a:ext cx="213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SIP &amp; Market Trend 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964725" y="4059175"/>
            <a:ext cx="7053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risk and returns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investor demographics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SIP growth trends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benchmark market movements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589500" y="1552350"/>
            <a:ext cx="724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fund industry AUM showed continuous growth.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SIP inflows increased significantly during the analysis period.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Large-cap and diversified funds demonstrated stable performance.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Risk-adjusted returns varied across fund categories.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Investor participation increased across states and age groups.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Certain funds showed higher sector concentration risk.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 analysis identified outperforming schemes.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visualizations improved decision-making efficiency.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/>
        </p:nvSpPr>
        <p:spPr>
          <a:xfrm>
            <a:off x="4973025" y="3139850"/>
            <a:ext cx="357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</a:t>
            </a:r>
            <a:r>
              <a:rPr lang="en" sz="5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endParaRPr sz="54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427000" y="1133825"/>
            <a:ext cx="7053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Bluestock Mutual Fund Analytics Platform successfully integrated data engineering, financial analytics, and business intelligence techniques into a unified solution.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project enabled performance evaluation, risk assessment, investor behavior analysis, and dashboard-driven decision making using Python, SQLite, and Power BI.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